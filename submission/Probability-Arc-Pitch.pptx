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cabad371cf49cc" /><Relationship Type="http://schemas.openxmlformats.org/officeDocument/2006/relationships/extended-properties" Target="/docProps/app.xml" Id="Rf1f4310217ef45c8" /><Relationship Type="http://schemas.openxmlformats.org/officeDocument/2006/relationships/officeDocument" Target="/ppt/presentation.xml" Id="Rdf7c2b391ca34c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a8179d45644c86"/>
  </p:sldMasterIdLst>
  <p:notesMasterIdLst>
    <p:notesMasterId xmlns:r="http://schemas.openxmlformats.org/officeDocument/2006/relationships" r:id="Rce6b8e13588c4b1f"/>
  </p:notesMasterIdLst>
  <p:sldIdLst>
    <p:sldId xmlns:r="http://schemas.openxmlformats.org/officeDocument/2006/relationships" id="256" r:id="R9f77bf604990426c"/>
    <p:sldId xmlns:r="http://schemas.openxmlformats.org/officeDocument/2006/relationships" id="257" r:id="R7b4d2fa152a14340"/>
    <p:sldId xmlns:r="http://schemas.openxmlformats.org/officeDocument/2006/relationships" id="258" r:id="Re41915f669884355"/>
    <p:sldId xmlns:r="http://schemas.openxmlformats.org/officeDocument/2006/relationships" id="259" r:id="Rb9fd2d016b2d46f0"/>
    <p:sldId xmlns:r="http://schemas.openxmlformats.org/officeDocument/2006/relationships" id="260" r:id="R7296d185b85f4a66"/>
    <p:sldId xmlns:r="http://schemas.openxmlformats.org/officeDocument/2006/relationships" id="261" r:id="Radb24e59a21b4382"/>
    <p:sldId xmlns:r="http://schemas.openxmlformats.org/officeDocument/2006/relationships" id="262" r:id="R0c7dd67ac6fb4dfe"/>
    <p:sldId xmlns:r="http://schemas.openxmlformats.org/officeDocument/2006/relationships" id="263" r:id="Rb4963218118043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5912bfcc2a4704" /><Relationship Type="http://schemas.openxmlformats.org/officeDocument/2006/relationships/slideMaster" Target="/ppt/slideMasters/slideMaster1.xml" Id="R44a8179d45644c86" /><Relationship Type="http://schemas.openxmlformats.org/officeDocument/2006/relationships/notesMaster" Target="/ppt/notesMasters/notesMaster1.xml" Id="Rce6b8e13588c4b1f" /><Relationship Type="http://schemas.openxmlformats.org/officeDocument/2006/relationships/presProps" Target="/ppt/presProps.xml" Id="R0aebf6a9ae154468" /><Relationship Type="http://schemas.openxmlformats.org/officeDocument/2006/relationships/tableStyles" Target="/ppt/tableStyles.xml" Id="R912b49e1094a487f" /><Relationship Type="http://schemas.openxmlformats.org/officeDocument/2006/relationships/slide" Target="/ppt/slides/slide1.xml" Id="R9f77bf604990426c" /><Relationship Type="http://schemas.openxmlformats.org/officeDocument/2006/relationships/slide" Target="/ppt/slides/slide2.xml" Id="R7b4d2fa152a14340" /><Relationship Type="http://schemas.openxmlformats.org/officeDocument/2006/relationships/slide" Target="/ppt/slides/slide3.xml" Id="Re41915f669884355" /><Relationship Type="http://schemas.openxmlformats.org/officeDocument/2006/relationships/slide" Target="/ppt/slides/slide4.xml" Id="Rb9fd2d016b2d46f0" /><Relationship Type="http://schemas.openxmlformats.org/officeDocument/2006/relationships/slide" Target="/ppt/slides/slide5.xml" Id="R7296d185b85f4a66" /><Relationship Type="http://schemas.openxmlformats.org/officeDocument/2006/relationships/slide" Target="/ppt/slides/slide6.xml" Id="Radb24e59a21b4382" /><Relationship Type="http://schemas.openxmlformats.org/officeDocument/2006/relationships/slide" Target="/ppt/slides/slide7.xml" Id="R0c7dd67ac6fb4dfe" /><Relationship Type="http://schemas.openxmlformats.org/officeDocument/2006/relationships/slide" Target="/ppt/slides/slide8.xml" Id="Rb4963218118043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942f9c574242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f681c6a2fc43ed" /><Relationship Type="http://schemas.openxmlformats.org/officeDocument/2006/relationships/notesMaster" Target="/ppt/notesMasters/notesMaster1.xml" Id="R0d0f1e416a2f42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e3c36594924021" /><Relationship Type="http://schemas.openxmlformats.org/officeDocument/2006/relationships/notesMaster" Target="/ppt/notesMasters/notesMaster1.xml" Id="R5350fe10b1a548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7109439aa24b54" /><Relationship Type="http://schemas.openxmlformats.org/officeDocument/2006/relationships/notesMaster" Target="/ppt/notesMasters/notesMaster1.xml" Id="Rf6903d3d438349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a57e7917ec4df9" /><Relationship Type="http://schemas.openxmlformats.org/officeDocument/2006/relationships/notesMaster" Target="/ppt/notesMasters/notesMaster1.xml" Id="Ra29f81c4eba94f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f658ab7df746b8" /><Relationship Type="http://schemas.openxmlformats.org/officeDocument/2006/relationships/notesMaster" Target="/ppt/notesMasters/notesMaster1.xml" Id="R28a046611dc74e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8a2fcee8be4829" /><Relationship Type="http://schemas.openxmlformats.org/officeDocument/2006/relationships/notesMaster" Target="/ppt/notesMasters/notesMaster1.xml" Id="Ra0f56c87cbd24f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7765cd0df94206" /><Relationship Type="http://schemas.openxmlformats.org/officeDocument/2006/relationships/notesMaster" Target="/ppt/notesMasters/notesMaster1.xml" Id="R1ba4bd6144e44c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c3521acfd0422f" /><Relationship Type="http://schemas.openxmlformats.org/officeDocument/2006/relationships/notesMaster" Target="/ppt/notesMasters/notesMaster1.xml" Id="R191949e6d8aa42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https://github.com/lam368910/Probability</a:t>
            </a:r>
          </a:p>
          <a:p xmlns:a="http://schemas.openxmlformats.org/drawingml/2006/main">
            <a:r>
              <a:t>- https://lam368910.github.io/Probability/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with the non-directional liquidity thesis and immediately state that this is an unaudited testnet MVP, not guaranteed yield.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https://github.com/lam368910/Probability/blob/main/docs/PRODUCT_STRATEGY.md</a:t>
            </a:r>
          </a:p>
          <a:p xmlns:a="http://schemas.openxmlformats.org/drawingml/2006/main">
            <a:r>
              <a:t>- https://github.com/lam368910/Probability/blob/main/docs/RISK_MODEL.md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 Probability as market-making infrastructure: traders express views; LPs supply depth and receive fee accounting without choosing YES or NO as a 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https://github.com/lam368910/Probability/blob/main/contracts/src/BinaryPredictionMarket.sol</a:t>
            </a:r>
          </a:p>
          <a:p xmlns:a="http://schemas.openxmlformats.org/drawingml/2006/main">
            <a:r>
              <a:t>- https://testnet.arcscan.app/address/0x6C61d4e599EdBD181DD815aFA83B3029b6AFFA42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clockwise through the loop. Emphasize that fee terms are immutable per market and that the frontend is not trusted for pricing or authorization.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https://docs.arc.io/arc/references/connect-to-arc</a:t>
            </a:r>
          </a:p>
          <a:p xmlns:a="http://schemas.openxmlformats.org/drawingml/2006/main">
            <a:r>
              <a:t>- https://docs.arc.io/arc/references/contract-addresses</a:t>
            </a:r>
          </a:p>
          <a:p xmlns:a="http://schemas.openxmlformats.org/drawingml/2006/main">
            <a:r>
              <a:t>- https://docs.arc.io/arc-chain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18-decimal native gas precision versus the 6-decimal ERC-20 interface. The product reads and transfers collateral only through the standard ERC-20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https://lam368910.github.io/Probability/</a:t>
            </a:r>
          </a:p>
          <a:p xmlns:a="http://schemas.openxmlformats.org/drawingml/2006/main">
            <a:r>
              <a:t>- https://testnet.arcscan.app/address/0x9d86B15bFb272B7b6702b9B0dDB3EA2a30B29601</a:t>
            </a:r>
          </a:p>
          <a:p xmlns:a="http://schemas.openxmlformats.org/drawingml/2006/main">
            <a:r>
              <a:t>- https://testnet.arcscan.app/address/0x6C61d4e599EdBD181DD815aFA83B3029b6AFFA42</a:t>
            </a:r>
          </a:p>
          <a:p xmlns:a="http://schemas.openxmlformats.org/drawingml/2006/main">
            <a:r>
              <a:t>- https://testnet.arcscan.app/tx/0x72c9c287ff2bea33379f5c2d068da23b25eff9aeb49c372bafc011104bcc35be</a:t>
            </a:r>
          </a:p>
          <a:p xmlns:a="http://schemas.openxmlformats.org/drawingml/2006/main">
            <a:r>
              <a:t>- https://testnet.arcscan.app/tx/0x6a0eb79e63afd3556a8a3079242e479938319b1a2f186d569132131d592e2c7d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Pause on the two transaction hashes. The smoke test confirms market registration, live phase, roles, reserves, and exact collateral backing after both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https://github.com/lam368910/Probability/blob/main/docs/ECONOMICS.md</a:t>
            </a:r>
          </a:p>
          <a:p xmlns:a="http://schemas.openxmlformats.org/drawingml/2006/main">
            <a:r>
              <a:t>- https://github.com/lam368910/Probability/blob/main/docs/RISK_MODEL.md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the trust slide. State plainly that LP capital can lose money and that no simulated APR is a promise or a quote from the Solidity AMM.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https://github.com/lam368910/Probability/blob/main/docs/ROADMAP.md</a:t>
            </a:r>
          </a:p>
          <a:p xmlns:a="http://schemas.openxmlformats.org/drawingml/2006/main">
            <a:r>
              <a:t>- https://github.com/lam368910/Probability/blob/main/docs/SECURITY_AND_COMPLIANCE.md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ask is design feedback, pilot partners, and audit/oracle collaborators—not deposits. Keep mainnet explicitly out of scope until every hardening gate is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https://lam368910.github.io/Probability/</a:t>
            </a:r>
          </a:p>
          <a:p xmlns:a="http://schemas.openxmlformats.org/drawingml/2006/main">
            <a:r>
              <a:t>- https://github.com/lam368910/Probability</a:t>
            </a:r>
          </a:p>
          <a:p xmlns:a="http://schemas.openxmlformats.org/drawingml/2006/main">
            <a:r>
              <a:t>- https://testnet.arcscan.app/address/0x6C61d4e599EdBD181DD815aFA83B3029b6AFFA42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in one sentence: Probability turns prediction-market volume into transparent, risk-aware USDC fee yield on Arc.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d7005f72b48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d3b5bf915f41a8" /><Relationship Type="http://schemas.openxmlformats.org/officeDocument/2006/relationships/slideLayout" Target="/ppt/slideLayouts/slideLayout1.xml" Id="Rb4dafe7372634c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dafe7372634c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a0028fefb42b5" /><Relationship Type="http://schemas.openxmlformats.org/officeDocument/2006/relationships/notesSlide" Target="/ppt/notesSlides/notesSlide1.xml" Id="R094c15190ade49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6e509f7274b1a" /><Relationship Type="http://schemas.openxmlformats.org/officeDocument/2006/relationships/notesSlide" Target="/ppt/notesSlides/notesSlide2.xml" Id="Rcef95c575dfe41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a2df70db34b1a" /><Relationship Type="http://schemas.openxmlformats.org/officeDocument/2006/relationships/notesSlide" Target="/ppt/notesSlides/notesSlide3.xml" Id="R5244aac68dce4d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8a4dc1e1b442e" /><Relationship Type="http://schemas.openxmlformats.org/officeDocument/2006/relationships/notesSlide" Target="/ppt/notesSlides/notesSlide4.xml" Id="Rc36bf8c48b6340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6c87b640c4a26" /><Relationship Type="http://schemas.openxmlformats.org/officeDocument/2006/relationships/image" Target="/ppt/media/image.jpeg" Id="R364dfc8b115d43ef" /><Relationship Type="http://schemas.openxmlformats.org/officeDocument/2006/relationships/notesSlide" Target="/ppt/notesSlides/notesSlide5.xml" Id="Rf6775418e93c43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94a08197b4065" /><Relationship Type="http://schemas.openxmlformats.org/officeDocument/2006/relationships/notesSlide" Target="/ppt/notesSlides/notesSlide6.xml" Id="R8eb75681dc1f49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d13e97bf44fba" /><Relationship Type="http://schemas.openxmlformats.org/officeDocument/2006/relationships/notesSlide" Target="/ppt/notesSlides/notesSlide7.xml" Id="R59138df85e1f4d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f9ed895b5433c" /><Relationship Type="http://schemas.openxmlformats.org/officeDocument/2006/relationships/notesSlide" Target="/ppt/notesSlides/notesSlide8.xml" Id="R7b2b56ff1d1649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3-1">
            <a:extLst xmlns:a="http://schemas.openxmlformats.org/drawingml/2006/main">
              <a:ext uri="{FF2B5EF4-FFF2-40B4-BE49-F238E27FC236}">
                <a16:creationId xmlns:a16="http://schemas.microsoft.com/office/drawing/2014/main" id="{DC5120EB-CF5F-4DD1-B5A5-509A362C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7D2B8A9-7DA1-47A9-974F-9AC816A2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Yield from prediction-market liquidity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Working Arc Testnet MVP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July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7E671C0-0236-46D5-A0DC-CBFC2A35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8625D"/>
                </a:solidFill>
                <a:latin typeface="Arial"/>
                <a:ea typeface="Arial"/>
                <a:cs typeface="Arial"/>
              </a:rPr>
              <a:t>ARC PROGRAMMABLE MONEY HACKATHON · DEFI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5E4ED-2E65-4F23-BC44-8ADDF0C5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2E695-81EA-4C39-BBC5-0907D640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857250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110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76599-C461-4992-978F-736CCEB3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47875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110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25B27-EAD9-41C9-BF07-B54EB78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905250"/>
            <a:ext cx="647700" cy="647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110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7D692-7755-463F-B485-6076D5FA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00625"/>
            <a:ext cx="1333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10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USDC</a:t>
            </a:r>
          </a:p>
          <a:p xmlns:a="http://schemas.openxmlformats.org/drawingml/2006/main">
            <a:pPr algn="l">
              <a:defRPr sz="1725" b="1">
                <a:solidFill>
                  <a:srgbClr val="0C110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FEE</a:t>
            </a:r>
          </a:p>
          <a:p xmlns:a="http://schemas.openxmlformats.org/drawingml/2006/main">
            <a:pPr algn="l">
              <a:defRPr sz="1725" b="1">
                <a:solidFill>
                  <a:srgbClr val="0C110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YIELD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36814-0C98-45D0-94A6-79DB70A6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10F"/>
          </a:solidFill>
          <a:ln xmlns:a="http://schemas.openxmlformats.org/drawingml/2006/main" w="0">
            <a:solidFill>
              <a:srgbClr val="0C110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958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473053F-9F75-498D-BB1B-8E428465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079ADF3-6B59-4486-93C9-53B9CA4E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Prediction markets need a second role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DB5506F2-5161-47C5-A601-8A9B08C9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433F42A-9084-4044-92D8-AF1EEF0F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Traders bet on outcomes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039EE511-44AB-4520-8418-03A0E561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Directional exposure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Fragmented depth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Gross APY without loss context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1D5B9CDB-3EED-4FF7-8E79-781829A8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F63238D-947C-4B18-B618-BF32676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LPs earn the flow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024EB9A-B6E0-42D9-AA9C-1AC799EA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Two-sided USDC liquidity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80% LP / 20% protocol fee split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Risk-adjusted analytics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22B8E92-4FE2-4F54-84D3-65FB6F0D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8625D"/>
                </a:solidFill>
                <a:latin typeface="Arial"/>
                <a:ea typeface="Arial"/>
                <a:cs typeface="Arial"/>
              </a:rPr>
              <a:t>THE GAP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Most interfaces make every user choose an outcome.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But liquid probability markets also need capital that quotes both sides—and understands the risk of doing so.</a:t>
            </a:r>
          </a:p>
        </p:txBody>
      </p:sp>
      <p:sp>
        <p:nvSpPr>
          <p:cNvPr id="10" name="acid-top-2">
            <a:extLst xmlns:a="http://schemas.openxmlformats.org/drawingml/2006/main">
              <a:ext uri="{FF2B5EF4-FFF2-40B4-BE49-F238E27FC236}">
                <a16:creationId xmlns:a16="http://schemas.microsoft.com/office/drawing/2014/main" id="{E0980553-C25A-4FDD-8476-922C55C2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1" name="mint-bottom-2">
            <a:extLst xmlns:a="http://schemas.openxmlformats.org/drawingml/2006/main">
              <a:ext uri="{FF2B5EF4-FFF2-40B4-BE49-F238E27FC236}">
                <a16:creationId xmlns:a16="http://schemas.microsoft.com/office/drawing/2014/main" id="{D8D5022F-DB8E-4BCE-9CCD-3BF81F95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6CF"/>
          </a:solidFill>
          <a:ln xmlns:a="http://schemas.openxmlformats.org/drawingml/2006/main" w="0">
            <a:solidFill>
              <a:srgbClr val="A8E6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5B7BF-08D6-41AD-83B3-253359CB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862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25D"/>
                </a:solidFill>
                <a:latin typeface="Arial"/>
                <a:ea typeface="Arial"/>
                <a:cs typeface="Arial"/>
              </a:rPr>
              <a:t>PROBABILITY  /  ARC TESTNET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2D23F-8180-466B-931C-7E60FC51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92EE6-1693-4E12-92AC-8AD86E7C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9518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6DFF67B-6C64-4193-8C80-488EE1BD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E18C4EA-4EEB-41E5-B5F9-7D4C2139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One Arc-native loop creates fee yield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5FE26017-5FD4-4C8B-AE7B-04889706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253A56B-4BAA-436C-A29A-29D8B2AA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02  Traders move price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A fixed-product quote turns each trade into an implied-probability update.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F104EEDF-A4F3-4E6D-BAFD-32AC10AC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1E4F0FE-597C-4981-9FC2-3C12FE0F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01  LPs seed both sides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USDC becomes YES and NO inventory while preserving the reserve ratio.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29A10F1C-30EC-4987-9555-3C14ECEA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021C65AD-8BDA-49CA-BCD5-A66E59A9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04  Risk stays visible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Reserves, fee APR scenarios, inventory loss, and safety boundaries remain explicit.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7986C3B8-F2F7-46C1-9BAA-FE40A12A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09D68DDC-FAF0-4CE2-88E1-CF68615F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03  Fees accrue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30 bps total; the live market assigns 80% to LPs and 20% to treasury.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D98EC64-952F-4EC8-9752-92BFFC63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8625D"/>
                </a:solidFill>
                <a:latin typeface="Arial"/>
                <a:ea typeface="Arial"/>
                <a:cs typeface="Arial"/>
              </a:rPr>
              <a:t>PRODUCT LOOP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Every step is visible in the UI and enforced by the contracts.</a:t>
            </a:r>
          </a:p>
        </p:txBody>
      </p:sp>
      <p:sp>
        <p:nvSpPr>
          <p:cNvPr id="12" name="acid-top-3">
            <a:extLst xmlns:a="http://schemas.openxmlformats.org/drawingml/2006/main">
              <a:ext uri="{FF2B5EF4-FFF2-40B4-BE49-F238E27FC236}">
                <a16:creationId xmlns:a16="http://schemas.microsoft.com/office/drawing/2014/main" id="{55E0987F-BC5B-4E21-9A45-6F5D5F4A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3" name="mint-bottom-3">
            <a:extLst xmlns:a="http://schemas.openxmlformats.org/drawingml/2006/main">
              <a:ext uri="{FF2B5EF4-FFF2-40B4-BE49-F238E27FC236}">
                <a16:creationId xmlns:a16="http://schemas.microsoft.com/office/drawing/2014/main" id="{6DB4D811-0C08-4DE4-86A0-0BFFA815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6CF"/>
          </a:solidFill>
          <a:ln xmlns:a="http://schemas.openxmlformats.org/drawingml/2006/main" w="0">
            <a:solidFill>
              <a:srgbClr val="A8E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F48F6-9192-41D1-B3B1-29FE95BA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862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25D"/>
                </a:solidFill>
                <a:latin typeface="Arial"/>
                <a:ea typeface="Arial"/>
                <a:cs typeface="Arial"/>
              </a:rPr>
              <a:t>PROBABILITY  /  ARC TESTNET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6CF77-9B31-4A5B-A414-F62B39A3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305BA-30A4-4471-A882-FA5C669C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6220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C0227-4D7C-4470-8CB5-F7B2CF3C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124FD-DD97-4EFC-8670-8454804B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71975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405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2C2C1B3-3C1C-47D5-BBBF-36950073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F8B2438-BDA3-42B5-8E1B-D4CAD0FA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B6CCFAA-DC12-4356-BA16-E64621B3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09F34469-96AA-469B-AFBD-9E4BFE03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080B50A-30AF-4045-AEC5-0F80EB5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Arc makes dollar markets feel native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7DBC15D-0D36-42E1-9F1B-8F1F6C55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Gas + collateral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49A24A3-3BA2-4460-A261-3DA70747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Existing tooling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09FBFF5-79D0-4420-A2A5-945B0AC2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Deterministic finality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BAD0134-4614-4883-8527-8FB8743F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USDC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D5E7499-4582-49EC-97E8-19166586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&lt;1s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AB3F55F-296C-4DA6-A3D8-886B65CD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EVM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7B34FE9-14EB-4264-9767-F7FDF534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8625D"/>
                </a:solidFill>
                <a:latin typeface="Arial"/>
                <a:ea typeface="Arial"/>
                <a:cs typeface="Arial"/>
              </a:rPr>
              <a:t>WHY ARC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Probability settles, charges gas, and accounts for liquidity in the same dollar-denominated asset.</a:t>
            </a:r>
          </a:p>
        </p:txBody>
      </p:sp>
      <p:sp>
        <p:nvSpPr>
          <p:cNvPr id="13" name="acid-top-4">
            <a:extLst xmlns:a="http://schemas.openxmlformats.org/drawingml/2006/main">
              <a:ext uri="{FF2B5EF4-FFF2-40B4-BE49-F238E27FC236}">
                <a16:creationId xmlns:a16="http://schemas.microsoft.com/office/drawing/2014/main" id="{805EE0A4-105E-439D-98FE-E47BB89C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4" name="mint-bottom-4">
            <a:extLst xmlns:a="http://schemas.openxmlformats.org/drawingml/2006/main">
              <a:ext uri="{FF2B5EF4-FFF2-40B4-BE49-F238E27FC236}">
                <a16:creationId xmlns:a16="http://schemas.microsoft.com/office/drawing/2014/main" id="{76CE8D10-1432-4914-AECB-FD29AA01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6CF"/>
          </a:solidFill>
          <a:ln xmlns:a="http://schemas.openxmlformats.org/drawingml/2006/main" w="0">
            <a:solidFill>
              <a:srgbClr val="A8E6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E2E56-A47B-4BCB-B099-03156F8F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862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25D"/>
                </a:solidFill>
                <a:latin typeface="Arial"/>
                <a:ea typeface="Arial"/>
                <a:cs typeface="Arial"/>
              </a:rPr>
              <a:t>PROBABILITY  /  ARC TESTNET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AD06B-C0DB-4723-B7CF-DB29DE21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992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B6E0B-4DF3-47CA-AB9D-03144CED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0992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B49B6-9769-44E7-B1E5-D6317CFF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0992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3867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2898DDA-C10C-4A20-83CB-211A2F29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7BDAF20-55AF-4601-BAFB-CA266622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Live MVP. Public receipts.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1B0965B8-5F21-4ABF-9C44-68875F1E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D5F6B2EB-49C8-470B-9F20-D8DB501A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Proof, not a dead button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Factory + market deployed
5.20 USDC fully collateralized
Canonical YES trade finalized
Canonical liquidity deposit finalized
Public state refresh with RPC fallback</a:t>
            </a:r>
          </a:p>
        </p:txBody>
      </p:sp>
      <p:sp>
        <p:nvSpPr>
          <p:cNvPr id="6" name="acid-top-5">
            <a:extLst xmlns:a="http://schemas.openxmlformats.org/drawingml/2006/main">
              <a:ext uri="{FF2B5EF4-FFF2-40B4-BE49-F238E27FC236}">
                <a16:creationId xmlns:a16="http://schemas.microsoft.com/office/drawing/2014/main" id="{67BE1BAF-C87C-49F5-8888-CDD3BF42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7" name="mint-bottom-5">
            <a:extLst xmlns:a="http://schemas.openxmlformats.org/drawingml/2006/main">
              <a:ext uri="{FF2B5EF4-FFF2-40B4-BE49-F238E27FC236}">
                <a16:creationId xmlns:a16="http://schemas.microsoft.com/office/drawing/2014/main" id="{89D2CBEB-5F43-456B-97B4-DCA866E0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6CF"/>
          </a:solidFill>
          <a:ln xmlns:a="http://schemas.openxmlformats.org/drawingml/2006/main" w="0">
            <a:solidFill>
              <a:srgbClr val="A8E6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4659F-E152-455D-9C8A-443E3C7E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862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25D"/>
                </a:solidFill>
                <a:latin typeface="Arial"/>
                <a:ea typeface="Arial"/>
                <a:cs typeface="Arial"/>
              </a:rPr>
              <a:t>PROBABILITY  /  ARC TESTNET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79C02-00CB-4650-A995-375DAC8A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200150"/>
            <a:ext cx="56769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C110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dfc8b115d43ef"/>
          <a:stretch xmlns:a="http://schemas.openxmlformats.org/drawingml/2006/main"/>
        </p:blipFill>
        <p:spPr>
          <a:xfrm xmlns:a="http://schemas.openxmlformats.org/drawingml/2006/main">
            <a:off x="6210300" y="1569479"/>
            <a:ext cx="5524500" cy="3109442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9C389-9AAA-4576-BEB3-FD2FA6A8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19700"/>
            <a:ext cx="2647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C110F"/>
          </a:solidFill>
          <a:ln xmlns:a="http://schemas.openxmlformats.org/drawingml/2006/main" w="0">
            <a:solidFill>
              <a:srgbClr val="0C110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A1FE1-5220-404F-999A-D4D10DDA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3340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FF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FF32"/>
                </a:solidFill>
                <a:latin typeface="Arial"/>
                <a:ea typeface="Arial"/>
                <a:cs typeface="Arial"/>
              </a:rPr>
              <a:t>YES trade</a:t>
            </a:r>
          </a:p>
          <a:p xmlns:a="http://schemas.openxmlformats.org/drawingml/2006/main">
            <a:pPr algn="l">
              <a:defRPr sz="1200" b="1">
                <a:solidFill>
                  <a:srgbClr val="D7FF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FF32"/>
                </a:solidFill>
                <a:latin typeface="Arial"/>
                <a:ea typeface="Arial"/>
                <a:cs typeface="Arial"/>
              </a:rPr>
              <a:t>0x72c9…35be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A91FE-89F8-4CDB-A818-366E6A3A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9700"/>
            <a:ext cx="2743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A8E6CF"/>
          </a:solidFill>
          <a:ln xmlns:a="http://schemas.openxmlformats.org/drawingml/2006/main" w="9525">
            <a:solidFill>
              <a:srgbClr val="0C110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92BBF-6CFB-4CDF-9A98-B2D670C2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334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C110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Liquidity</a:t>
            </a:r>
          </a:p>
          <a:p xmlns:a="http://schemas.openxmlformats.org/drawingml/2006/main">
            <a:pPr algn="l">
              <a:defRPr sz="1200" b="1">
                <a:solidFill>
                  <a:srgbClr val="0C110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0x6a0e…2c7d</a:t>
            </a:r>
          </a:p>
        </p:txBody>
      </p:sp>
    </p:spTree>
    <p:extLst>
      <p:ext uri="{BB962C8B-B14F-4D97-AF65-F5344CB8AC3E}">
        <p14:creationId xmlns:p14="http://schemas.microsoft.com/office/powerpoint/2010/main" val="417255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675D84D-9A22-4B13-81C1-31D7A363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EF2A4DD-F2E0-4173-91CA-895461C4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Yield is fees minus what the market knows first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0C920EBB-7C89-4631-BD8D-FA23E5FD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4C097DC-3A1D-4451-AE2A-25690D02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− Inventory repricing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Outcome reserves change value as implied probability moves.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1D773218-8217-4442-A43E-FFFCFAB0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95DE8BB-6A3F-4C0B-B20C-BC220552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+ Trading fees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Earned when traders use the pool; dependent on realized volume.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1AE93394-DBFA-4E23-9FF1-84996DB8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E2D5F457-041E-48D6-94C7-50D688BA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− Oracle + contract risk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Resolution, governance, and software failure remain explicit loss paths.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7F8AF782-7125-4518-ABCB-8613B502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9518782B-479D-42A9-A2AB-075CC703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− Adverse selection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Informed order flow can extract more value than fees replace.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072D772-8ADA-4716-A36B-99F07F24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8625D"/>
                </a:solidFill>
                <a:latin typeface="Arial"/>
                <a:ea typeface="Arial"/>
                <a:cs typeface="Arial"/>
              </a:rPr>
              <a:t>HONEST ECONOMICS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Probability makes the complete LP return equation visible—not just gross fee APR.</a:t>
            </a:r>
          </a:p>
        </p:txBody>
      </p:sp>
      <p:sp>
        <p:nvSpPr>
          <p:cNvPr id="12" name="acid-top-6">
            <a:extLst xmlns:a="http://schemas.openxmlformats.org/drawingml/2006/main">
              <a:ext uri="{FF2B5EF4-FFF2-40B4-BE49-F238E27FC236}">
                <a16:creationId xmlns:a16="http://schemas.microsoft.com/office/drawing/2014/main" id="{89075E43-A3F2-4097-A702-AF95B4BB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3" name="mint-bottom-6">
            <a:extLst xmlns:a="http://schemas.openxmlformats.org/drawingml/2006/main">
              <a:ext uri="{FF2B5EF4-FFF2-40B4-BE49-F238E27FC236}">
                <a16:creationId xmlns:a16="http://schemas.microsoft.com/office/drawing/2014/main" id="{1278512D-471D-4A0F-AA94-2AE43A87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6CF"/>
          </a:solidFill>
          <a:ln xmlns:a="http://schemas.openxmlformats.org/drawingml/2006/main" w="0">
            <a:solidFill>
              <a:srgbClr val="A8E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7D7AA-DFF5-4BB7-B449-F8920A5A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862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25D"/>
                </a:solidFill>
                <a:latin typeface="Arial"/>
                <a:ea typeface="Arial"/>
                <a:cs typeface="Arial"/>
              </a:rPr>
              <a:t>PROBABILITY  /  ARC TESTNET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D8C5F-0FF8-4D30-AB54-701336BA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5454D-01A6-4E38-ACF3-696A9683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6220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95F7E-FD5E-49EA-8175-A3BEF7C6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2A8D1-E1CE-4D3F-9484-52A0558A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71975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1192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8929E0-C381-4063-8933-FF235C67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78DF214-2B1A-4F8C-B308-9505F410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From hackathon MVP to controlled pilot</a:t>
            </a:r>
          </a:p>
        </p:txBody>
      </p:sp>
      <p:cxnSp>
        <p:nvCxnSpPr>
          <p:cNvPr id="24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9065410-1E9A-4F44-8C21-1AC83208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073FD9F-C032-4736-9431-F5FB8E50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F3C5E5C-2547-43BB-B1F6-43AAA554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859F053B-A495-495A-90F7-8269F0C5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AE3FD42F-F1C2-4AB0-95CB-83E4CE71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LIVE NOW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Arc market + factory
Wallet execution
Public state + evidence
Risk simulator and CI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C22147BD-F8A0-458A-821C-6FBE86C5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F505F29D-5788-43CC-9DC0-9C47E43D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HARDEN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Invariant + fuzz tests
Independent audit
Dispute-capable oracle
Multisig + timelock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29AE831A-0D94-4036-BACA-4AE4FAC4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54C94053-9DFF-41B4-8F74-4670C387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PILOT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Curated markets
LP caps + monitoring
Indexed history
Jurisdiction-specific launch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885BD18-A071-4B32-AEFB-E57E8334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43E6E3BA-F50A-47FC-B409-6D24FA39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MVP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966FB13F-5563-4236-BCD2-D2D4CC5D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6" name="acid-top-7">
            <a:extLst xmlns:a="http://schemas.openxmlformats.org/drawingml/2006/main">
              <a:ext uri="{FF2B5EF4-FFF2-40B4-BE49-F238E27FC236}">
                <a16:creationId xmlns:a16="http://schemas.microsoft.com/office/drawing/2014/main" id="{3CDC7344-53CB-40F8-A580-BB2539C2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17" name="mint-bottom-7">
            <a:extLst xmlns:a="http://schemas.openxmlformats.org/drawingml/2006/main">
              <a:ext uri="{FF2B5EF4-FFF2-40B4-BE49-F238E27FC236}">
                <a16:creationId xmlns:a16="http://schemas.microsoft.com/office/drawing/2014/main" id="{9B81CDC5-D261-4115-860F-658E3E6A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6CF"/>
          </a:solidFill>
          <a:ln xmlns:a="http://schemas.openxmlformats.org/drawingml/2006/main" w="0">
            <a:solidFill>
              <a:srgbClr val="A8E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169D5-F87E-47E7-8FAD-701798F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862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25D"/>
                </a:solidFill>
                <a:latin typeface="Arial"/>
                <a:ea typeface="Arial"/>
                <a:cs typeface="Arial"/>
              </a:rPr>
              <a:t>PROBABILITY  /  ARC TESTNET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EBB0E-FE2C-419A-9A83-B1383463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001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3C02F-5B3B-4ADF-BE49-4DCC76CE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001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06118-D13A-4805-B205-CFDBAC87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4001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20491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0476BB52-8E42-4843-8768-34C8DA6C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Make market activity earnable.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248CC67-1721-4ED2-84B5-479FB1CB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10F"/>
                </a:solidFill>
                <a:latin typeface="Arial"/>
                <a:ea typeface="Arial"/>
                <a:cs typeface="Arial"/>
              </a:rPr>
              <a:t>Live demo  ·  lam368910.github.io/Probability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GitHub  ·  github.com/lam368910/Probability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25D"/>
                </a:solidFill>
                <a:latin typeface="Arial"/>
                <a:ea typeface="Arial"/>
                <a:cs typeface="Arial"/>
              </a:rPr>
              <a:t>Arc market  ·  0x6C61…FA42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E8DDA9F-6BA9-4657-A143-03A2FCC5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8625D"/>
                </a:solidFill>
                <a:latin typeface="Arial"/>
                <a:ea typeface="Arial"/>
                <a:cs typeface="Arial"/>
              </a:rPr>
              <a:t>PROBABILITY · DEFI 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ECC5C-532A-43E2-B7B5-C84509DB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10F"/>
          </a:solidFill>
          <a:ln xmlns:a="http://schemas.openxmlformats.org/drawingml/2006/main" w="0">
            <a:solidFill>
              <a:srgbClr val="0C11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421B8-7B13-4210-9AA5-05179F3E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09750"/>
            <a:ext cx="1762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FF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FF32"/>
                </a:solidFill>
                <a:latin typeface="Arial"/>
                <a:ea typeface="Arial"/>
                <a:cs typeface="Arial"/>
              </a:rPr>
              <a:t>ARC</a:t>
            </a:r>
          </a:p>
          <a:p xmlns:a="http://schemas.openxmlformats.org/drawingml/2006/main">
            <a:pPr algn="l">
              <a:defRPr sz="2400" b="1">
                <a:solidFill>
                  <a:srgbClr val="D7FF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FF32"/>
                </a:solidFill>
                <a:latin typeface="Arial"/>
                <a:ea typeface="Arial"/>
                <a:cs typeface="Arial"/>
              </a:rPr>
              <a:t>TESTNET</a:t>
            </a:r>
          </a:p>
          <a:p xmlns:a="http://schemas.openxmlformats.org/drawingml/2006/main">
            <a:pPr algn="l">
              <a:defRPr sz="2400" b="1">
                <a:solidFill>
                  <a:srgbClr val="D7FF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7FF32"/>
                </a:solidFill>
                <a:latin typeface="Arial"/>
                <a:ea typeface="Arial"/>
                <a:cs typeface="Arial"/>
              </a:rPr>
              <a:t>LIVE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76903-A61B-41AC-9D59-64536AA1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76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6CF"/>
          </a:solidFill>
          <a:ln xmlns:a="http://schemas.openxmlformats.org/drawingml/2006/main" w="0">
            <a:solidFill>
              <a:srgbClr val="A8E6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FD531-D999-4534-9646-2853B305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F32"/>
          </a:solidFill>
          <a:ln xmlns:a="http://schemas.openxmlformats.org/drawingml/2006/main" w="0">
            <a:solidFill>
              <a:srgbClr val="D7FF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7456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2026-07-27T21:07:55.9370000Z</dcterms:created>
  <dcterms:modified xsi:type="dcterms:W3CDTF">2026-07-27T21:07:55.9370000Z</dcterms:modified>
</coreProperties>
</file>